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7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501776"/>
            <a:ext cx="7772400" cy="147002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dirty="0" err="1"/>
              <a:t>Cyclistic</a:t>
            </a:r>
            <a:r>
              <a:rPr dirty="0"/>
              <a:t>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Converting Casual Riders into Annual Members</a:t>
            </a:r>
          </a:p>
          <a:p>
            <a:r>
              <a:rPr dirty="0"/>
              <a:t>Ale</a:t>
            </a:r>
            <a:r>
              <a:rPr lang="en-US" dirty="0"/>
              <a:t>ksandr Svirskii</a:t>
            </a:r>
            <a:r>
              <a:rPr dirty="0"/>
              <a:t> | Data Analytics Portfolio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4151"/>
            <a:ext cx="10972800" cy="4525963"/>
          </a:xfrm>
        </p:spPr>
        <p:txBody>
          <a:bodyPr/>
          <a:lstStyle/>
          <a:p>
            <a:r>
              <a:rPr dirty="0"/>
              <a:t>Business Problem</a:t>
            </a:r>
          </a:p>
          <a:p>
            <a:pPr lvl="1"/>
            <a:r>
              <a:rPr dirty="0"/>
              <a:t>Hypothesis &amp; Metrics</a:t>
            </a:r>
          </a:p>
          <a:p>
            <a:pPr lvl="1"/>
            <a:r>
              <a:rPr dirty="0"/>
              <a:t>Behavioral Insights</a:t>
            </a:r>
          </a:p>
          <a:p>
            <a:pPr lvl="1"/>
            <a:r>
              <a:rPr dirty="0"/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dirty="0"/>
              <a:t>Annual Membership Growth Drives Long-Term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9566"/>
            <a:ext cx="10972800" cy="4525963"/>
          </a:xfrm>
        </p:spPr>
        <p:txBody>
          <a:bodyPr/>
          <a:lstStyle/>
          <a:p>
            <a:r>
              <a:rPr dirty="0"/>
              <a:t>Stakeholders: Marketing Director &amp; Executive Team</a:t>
            </a:r>
          </a:p>
          <a:p>
            <a:pPr lvl="1"/>
            <a:r>
              <a:rPr dirty="0"/>
              <a:t>Goal: Increase annual memberships</a:t>
            </a:r>
          </a:p>
          <a:p>
            <a:pPr lvl="1"/>
            <a:r>
              <a:rPr dirty="0"/>
              <a:t>Dataset: 5.5M rides across 12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dirty="0"/>
              <a:t>Hypothesis: Members Commute, Casual Riders Ride for Leisure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4724"/>
            <a:ext cx="10972800" cy="4525963"/>
          </a:xfrm>
        </p:spPr>
        <p:txBody>
          <a:bodyPr/>
          <a:lstStyle/>
          <a:p>
            <a:r>
              <a:rPr dirty="0"/>
              <a:t>Behavioral differences indicate intent</a:t>
            </a:r>
          </a:p>
          <a:p>
            <a:pPr lvl="1"/>
            <a:r>
              <a:rPr dirty="0"/>
              <a:t>Intent can guide targeted conversion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Core Metrics Used to Evaluate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45298"/>
            <a:ext cx="10972800" cy="4525963"/>
          </a:xfrm>
        </p:spPr>
        <p:txBody>
          <a:bodyPr/>
          <a:lstStyle/>
          <a:p>
            <a:r>
              <a:rPr dirty="0"/>
              <a:t>Average ride duration</a:t>
            </a:r>
          </a:p>
          <a:p>
            <a:pPr lvl="1"/>
            <a:r>
              <a:rPr dirty="0"/>
              <a:t>Hourly ride distribution</a:t>
            </a:r>
          </a:p>
          <a:p>
            <a:pPr lvl="1"/>
            <a:r>
              <a:rPr dirty="0"/>
              <a:t>Weekday vs weekend usage</a:t>
            </a:r>
          </a:p>
          <a:p>
            <a:pPr lvl="1"/>
            <a:r>
              <a:rPr dirty="0"/>
              <a:t>Monthly seasonality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Members Show Strong Commuting Peaks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751031"/>
            <a:ext cx="3704734" cy="329231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Usage Patterns Confirm Routine Integration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Members peak at 8 AM and 5 PM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Casual riders ride mostly mid-day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Clear commute vs leisure split</a:t>
            </a:r>
          </a:p>
          <a:p>
            <a:endParaRPr dirty="0"/>
          </a:p>
        </p:txBody>
      </p:sp>
      <p:pic>
        <p:nvPicPr>
          <p:cNvPr id="4" name="Picture 3" descr="Hourly 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672" y="1751030"/>
            <a:ext cx="7968791" cy="4432954"/>
          </a:xfrm>
          <a:prstGeom prst="rect">
            <a:avLst/>
          </a:prstGeom>
          <a:ln w="12700">
            <a:solidFill>
              <a:srgbClr val="92D050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Casual Riders Spend 60% More Time per 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113" y="1600202"/>
            <a:ext cx="3208257" cy="43575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b="1" dirty="0"/>
              <a:t>Insight: </a:t>
            </a:r>
            <a:r>
              <a:rPr lang="en-US" sz="2400" dirty="0"/>
              <a:t>Longer Rides Reflect Leisure Behavior</a:t>
            </a:r>
            <a:endParaRPr lang="ru-RU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Casual average: ~18.6 min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Member average: ~11.5 min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Frequent long rides signal upgrade potential</a:t>
            </a:r>
          </a:p>
          <a:p>
            <a:endParaRPr dirty="0"/>
          </a:p>
        </p:txBody>
      </p:sp>
      <p:pic>
        <p:nvPicPr>
          <p:cNvPr id="4" name="Picture 3" descr="Ride 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40" y="1600202"/>
            <a:ext cx="8304512" cy="4734610"/>
          </a:xfrm>
          <a:prstGeom prst="rect">
            <a:avLst/>
          </a:prstGeom>
          <a:ln w="12700">
            <a:solidFill>
              <a:srgbClr val="92D05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Weekend vs Weekday Split Is Significant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1443"/>
            <a:ext cx="3308338" cy="4593208"/>
          </a:xfrm>
        </p:spPr>
        <p:txBody>
          <a:bodyPr>
            <a:normAutofit/>
          </a:bodyPr>
          <a:lstStyle/>
          <a:p>
            <a:r>
              <a:rPr lang="en-US" sz="2400" b="1" dirty="0"/>
              <a:t>Insight: </a:t>
            </a:r>
            <a:r>
              <a:rPr lang="en-US" sz="2400" dirty="0"/>
              <a:t>Members Dominate Weekdays, Casual Riders Weekends</a:t>
            </a:r>
            <a:endParaRPr lang="ru-RU" sz="2400" dirty="0"/>
          </a:p>
          <a:p>
            <a:r>
              <a:rPr lang="en-US" sz="2400" dirty="0"/>
              <a:t>Members integrate bikes into work routines</a:t>
            </a:r>
          </a:p>
          <a:p>
            <a:pPr lvl="1"/>
            <a:r>
              <a:rPr lang="en-US" sz="2400" dirty="0"/>
              <a:t>Casual riders show recreational engagement</a:t>
            </a:r>
          </a:p>
          <a:p>
            <a:endParaRPr dirty="0"/>
          </a:p>
        </p:txBody>
      </p:sp>
      <p:pic>
        <p:nvPicPr>
          <p:cNvPr id="4" name="Picture 3" descr="Weekly 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202" y="1641443"/>
            <a:ext cx="8518218" cy="4749931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Casual Usage Is Highly Seasonal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98" y="1897145"/>
            <a:ext cx="2972586" cy="383906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100" dirty="0"/>
              <a:t>High Engagement Without Habit Lock-In</a:t>
            </a:r>
            <a:r>
              <a:rPr lang="ru-RU" sz="3100" dirty="0"/>
              <a:t>: </a:t>
            </a:r>
          </a:p>
          <a:p>
            <a:pPr>
              <a:lnSpc>
                <a:spcPct val="120000"/>
              </a:lnSpc>
            </a:pPr>
            <a:r>
              <a:rPr lang="en-US" sz="3100" dirty="0"/>
              <a:t>Casual riders are active but seasonal</a:t>
            </a:r>
          </a:p>
          <a:p>
            <a:pPr lvl="1">
              <a:lnSpc>
                <a:spcPct val="120000"/>
              </a:lnSpc>
            </a:pPr>
            <a:r>
              <a:rPr lang="en-US" sz="3100" dirty="0"/>
              <a:t>Behavior signals strong conversion opportunity</a:t>
            </a:r>
          </a:p>
          <a:p>
            <a:endParaRPr dirty="0"/>
          </a:p>
        </p:txBody>
      </p:sp>
      <p:pic>
        <p:nvPicPr>
          <p:cNvPr id="4" name="Picture 3" descr="Seasonal 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46" y="1897145"/>
            <a:ext cx="8502092" cy="4432954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dirty="0"/>
              <a:t>Targeted Strategy Can Convert Engagement into Recurring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4152"/>
            <a:ext cx="10972800" cy="4525963"/>
          </a:xfrm>
        </p:spPr>
        <p:txBody>
          <a:bodyPr/>
          <a:lstStyle/>
          <a:p>
            <a:r>
              <a:rPr lang="en-US" dirty="0"/>
              <a:t>Introduce a limited-time discounted annual membership offer.</a:t>
            </a:r>
          </a:p>
          <a:p>
            <a:r>
              <a:rPr lang="en-US" dirty="0"/>
              <a:t>Offer summer-focused membership.</a:t>
            </a:r>
          </a:p>
          <a:p>
            <a:r>
              <a:rPr lang="en-US" dirty="0"/>
              <a:t>Develop a weekend-only subscription model.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233</Words>
  <Application>Microsoft Office PowerPoint</Application>
  <PresentationFormat>Широкоэкранный</PresentationFormat>
  <Paragraphs>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Cyclistic Case Study</vt:lpstr>
      <vt:lpstr>Presentation Overview</vt:lpstr>
      <vt:lpstr>Annual Membership Growth Drives Long-Term Profitability</vt:lpstr>
      <vt:lpstr>Hypothesis: Members Commute, Casual Riders Ride for Leisure</vt:lpstr>
      <vt:lpstr>Core Metrics Used to Evaluate Behavior</vt:lpstr>
      <vt:lpstr>Members Show Strong Commuting Peaks</vt:lpstr>
      <vt:lpstr>Casual Riders Spend 60% More Time per Ride</vt:lpstr>
      <vt:lpstr>Weekend vs Weekday Split Is Significant</vt:lpstr>
      <vt:lpstr>Casual Usage Is Highly Seasonal</vt:lpstr>
      <vt:lpstr>Targeted Strategy Can Convert Engagement into Recurring Revenue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</dc:title>
  <dc:subject/>
  <dc:creator>Aleksandr Svirskii</dc:creator>
  <cp:keywords/>
  <dc:description>generated using python-pptx</dc:description>
  <cp:lastModifiedBy>Aleksandr Svirskii</cp:lastModifiedBy>
  <cp:revision>8</cp:revision>
  <dcterms:created xsi:type="dcterms:W3CDTF">2013-01-27T09:14:16Z</dcterms:created>
  <dcterms:modified xsi:type="dcterms:W3CDTF">2026-02-20T17:40:59Z</dcterms:modified>
  <cp:category/>
</cp:coreProperties>
</file>